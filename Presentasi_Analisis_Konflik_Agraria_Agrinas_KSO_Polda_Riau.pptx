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B88A3D"/>
                </a:solidFill>
                <a:latin typeface="Calibri"/>
              </a:rPr>
              <a:t>KEPOLISIAN NEGARA REPUBLIK INDONESIA  ·  DAERAH RIAU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C5D0"/>
                </a:solidFill>
                <a:latin typeface="Calibri"/>
              </a:rPr>
              <a:t>DIREKTORAT RESERSE KRIMINAL UMUM  —  UNIT II HARDA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C45C26"/>
                </a:solidFill>
                <a:latin typeface="Calibri"/>
              </a:rPr>
              <a:t>PAPARAN HASIL ANALISIS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Konflik Agraria Agrinas–KSO
di 12 Polres Wilayah Hukum Polda Riau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9AA8B5"/>
                </a:solidFill>
                <a:latin typeface="Calibri"/>
              </a:rPr>
              <a:t>Analisis berbasis dokumen Polri / Intelkam / Reskrim  ·  Bukan verifikasi lapangan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Periode sumber: 2024 – Juli 2026
Tanggal penyusunan: 3 Agustus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 i="0">
                <a:solidFill>
                  <a:srgbClr val="B88A3D"/>
                </a:solidFill>
                <a:latin typeface="Calibri"/>
              </a:rPr>
              <a:t>RAHASIA INTERNAL — UNTUK KEPENTINGAN ANALISIS UNIT II HARDA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Alur Paparan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Enam bagian utama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5C2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Ringkasan Eksekutif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Temuan inti &amp; skala ekosistem 130 perusahaan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5C2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Profil Tingkat Polda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Klaster Intelkam, bentrok, ranking prioritas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5C26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Peta Panas Koridor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146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Utara · Selatan · Tengah · Nihil Agrinas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5C26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Titik Merah &amp; Hotspot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Rohul · Rohil · Bengkalis + satker kritis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5661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40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5C26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3891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Sintesis Analitik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8006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Rantai risiko, tipologi, diskoneksi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5661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840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5C26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3891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Rekomendasi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060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Agenda riset R1–R8 &amp; lima prioritas segera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1. Ringkasan Eksekutif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Temuan inti untuk Unit II Harda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73152" cy="105156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2A44"/>
                </a:solidFill>
                <a:latin typeface="Calibri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672"/>
                </a:solidFill>
                <a:latin typeface="Calibri"/>
              </a:rPr>
              <a:t>Perusahaan Agrinas–KSO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8872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188720"/>
            <a:ext cx="73152" cy="1051560"/>
          </a:xfrm>
          <a:prstGeom prst="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3258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2A44"/>
                </a:solidFill>
                <a:latin typeface="Calibri"/>
              </a:rPr>
              <a:t>3 · 24 · 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3736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672"/>
                </a:solidFill>
                <a:latin typeface="Calibri"/>
              </a:rPr>
              <a:t>Merah · Kuning · Hijau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18872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188720"/>
            <a:ext cx="73152" cy="10515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3258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2A44"/>
                </a:solidFill>
                <a:latin typeface="Calibri"/>
              </a:rPr>
              <a:t>1 MD + 23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73736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672"/>
                </a:solidFill>
                <a:latin typeface="Calibri"/>
              </a:rPr>
              <a:t>Korban jiwa &amp; luka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18872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188720"/>
            <a:ext cx="73152" cy="1051560"/>
          </a:xfrm>
          <a:prstGeom prst="rect">
            <a:avLst/>
          </a:prstGeom>
          <a:solidFill>
            <a:srgbClr val="C48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9" y="13258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2A44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173736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672"/>
                </a:solidFill>
                <a:latin typeface="Calibri"/>
              </a:rPr>
              <a:t>Bentrok (utara)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1887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20" y="1188720"/>
            <a:ext cx="73152" cy="105156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325880"/>
            <a:ext cx="1645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F2A44"/>
                </a:solidFill>
                <a:latin typeface="Calibri"/>
              </a:rPr>
              <a:t>Inhu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737360"/>
            <a:ext cx="1645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A6672"/>
                </a:solidFill>
                <a:latin typeface="Calibri"/>
              </a:rPr>
              <a:t>Volume kebun tertinggi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6888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Konflik struktural tata kelola (penunjukan KSO, PAM non-BUJP, batas pasca-PKH, plasma/MHA) lebih determinan daripada pencurian TBS oportunistik.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Tiga titik merah resmi: Gunung Mas Raya–UTS (Rohil), Berkat Satu–Majuma (Rohul, 1 MD), SIS–PAB (Bengkalis).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Pelalawan: KSO seluruhnya hijau, tetapi dimensi TNTN menghasilkan aksi kolektif tinggi — dipisah dari analisis KSO murni.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Pekanbaru &amp; Kep. Meranti hampir NIHIL Agrinas–KSO; jangan digabung dengan pidana pencurian masyarakat.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Kualitas data tidak merata; angka luas Pelalawan / Siak / sebagian Kuansing tidak layak diagregasi tanpa klarifikasi.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Skala Ekosistem &amp; Klaster Intelkam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Baseline 12 Polres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109728" cy="868680"/>
          </a:xfrm>
          <a:prstGeom prst="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32D2D"/>
                </a:solidFill>
                <a:latin typeface="Calibri"/>
              </a:rPr>
              <a:t>MERAH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Konflik + kerusuhan + korban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109728" cy="868680"/>
          </a:xfrm>
          <a:prstGeom prst="rect">
            <a:avLst/>
          </a:prstGeom>
          <a:solidFill>
            <a:srgbClr val="C48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2344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8A14"/>
                </a:solidFill>
                <a:latin typeface="Calibri"/>
              </a:rPr>
              <a:t>KUNING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Konflik tanpa kerusuhan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430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109728" cy="8686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12344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E7D4F"/>
                </a:solidFill>
                <a:latin typeface="Calibri"/>
              </a:rPr>
              <a:t>HIJAU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15544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Belum terjadi konflik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2194560"/>
          <a:ext cx="6583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822960"/>
                <a:gridCol w="822960"/>
                <a:gridCol w="914400"/>
                <a:gridCol w="1280160"/>
              </a:tblGrid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Satker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Kebun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Konflik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Inhu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Rohil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B3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Rohul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B3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Inhil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Kuansing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Pelalawan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Bengkalis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B3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Siak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Kampar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Dumai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Meranti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E24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09492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anchor="ctr"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anchor="ctr"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2C5F7C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8138160" y="2194560"/>
            <a:ext cx="3657600" cy="4023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3774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F2A44"/>
                </a:solidFill>
                <a:latin typeface="Calibri"/>
              </a:rPr>
              <a:t>Catatan kunci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8036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Pekanbaru: NIHIL (di luar 130).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Konflik resume tertinggi: Rohil (7) &amp; Rohul (6).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Volume terbesar: Inhu (28) — bukan intensitas kekerasan tertinggi.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Klaster hijau sering underestimate gesekan lokal.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Ranking Prioritas Analitik Harda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Alokasi perhatian Unit 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37160" cy="1097280"/>
          </a:xfrm>
          <a:prstGeom prst="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32D2D"/>
                </a:solidFill>
                <a:latin typeface="Calibri"/>
              </a:rPr>
              <a:t>SANGAT TINGGI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71600"/>
            <a:ext cx="74980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F2A44"/>
                </a:solidFill>
                <a:latin typeface="Calibri"/>
              </a:rPr>
              <a:t>Rohul · Rohil · Bengkalis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37360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672"/>
                </a:solidFill>
                <a:latin typeface="Calibri"/>
              </a:rPr>
              <a:t>Merah + bentrok + korban jiwa/luka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37160" cy="10972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C26"/>
                </a:solidFill>
                <a:latin typeface="Calibri"/>
              </a:rPr>
              <a:t>TINGGI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06040"/>
            <a:ext cx="74980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F2A44"/>
                </a:solidFill>
                <a:latin typeface="Calibri"/>
              </a:rPr>
              <a:t>Inhu · Kuansing · Kampar · Dumai · Pelalawan (TNTN)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971800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672"/>
                </a:solidFill>
                <a:latin typeface="Calibri"/>
              </a:rPr>
              <a:t>Volume kebun / LP terstruktur / dimensi kawasan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37160" cy="1097280"/>
          </a:xfrm>
          <a:prstGeom prst="rect">
            <a:avLst/>
          </a:prstGeom>
          <a:solidFill>
            <a:srgbClr val="C48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8A14"/>
                </a:solidFill>
                <a:latin typeface="Calibri"/>
              </a:rPr>
              <a:t>SEDANG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40480"/>
            <a:ext cx="74980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F2A44"/>
                </a:solidFill>
                <a:latin typeface="Calibri"/>
              </a:rPr>
              <a:t>Inhil · Siak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06240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672"/>
                </a:solidFill>
                <a:latin typeface="Calibri"/>
              </a:rPr>
              <a:t>Konflik ada; data masih parsial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9204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137160" cy="10972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RENDAH / GAP-FILL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074920"/>
            <a:ext cx="749807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F2A44"/>
                </a:solidFill>
                <a:latin typeface="Calibri"/>
              </a:rPr>
              <a:t>Kep. Meranti · Pekanbaru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440680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672"/>
                </a:solidFill>
                <a:latin typeface="Calibri"/>
              </a:rPr>
              <a:t>NIHIL Agrinas–KSO; monitoring ringan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3. Peta Panas Komparatif 12 Polres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Empat koridor analitik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2743200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43200" cy="640080"/>
          </a:xfrm>
          <a:prstGeom prst="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B32D2D"/>
                </a:solidFill>
                <a:latin typeface="Calibri"/>
              </a:rPr>
              <a:t>Eskalasi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2A44"/>
                </a:solidFill>
                <a:latin typeface="Calibri"/>
              </a:rPr>
              <a:t>Rohul · Rohil
Bengkalis · Dumai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5A6672"/>
                </a:solidFill>
                <a:latin typeface="Calibri"/>
              </a:rPr>
              <a:t>Merah/kuning
PAM · bentrok
korban jiwa/luka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34440"/>
            <a:ext cx="2743200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34440"/>
            <a:ext cx="2743200" cy="6400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258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SELATAN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574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2C5F7C"/>
                </a:solidFill>
                <a:latin typeface="Calibri"/>
              </a:rPr>
              <a:t>Volume &amp; tuntutan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6032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2A44"/>
                </a:solidFill>
                <a:latin typeface="Calibri"/>
              </a:rPr>
              <a:t>Inhu · Kuansing
Inhil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3192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5A6672"/>
                </a:solidFill>
                <a:latin typeface="Calibri"/>
              </a:rPr>
              <a:t>Banyak kebun
plasma / MHA
relokasi · TBS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34440"/>
            <a:ext cx="2743200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2743200" cy="6400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258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TENGAH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C45C26"/>
                </a:solidFill>
                <a:latin typeface="Calibri"/>
              </a:rPr>
              <a:t>Campuran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2A44"/>
                </a:solidFill>
                <a:latin typeface="Calibri"/>
              </a:rPr>
              <a:t>Kampar · Siak
Pelalawan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5A6672"/>
                </a:solidFill>
                <a:latin typeface="Calibri"/>
              </a:rPr>
              <a:t>LP Kampar bersih
Siak admin/HTI
Pelalawan TNTN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234440"/>
            <a:ext cx="2743200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234440"/>
            <a:ext cx="2743200" cy="6400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3258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NIHIL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0574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2E7D4F"/>
                </a:solidFill>
                <a:latin typeface="Calibri"/>
              </a:rPr>
              <a:t>Gap-fill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560320"/>
            <a:ext cx="2377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F2A44"/>
                </a:solidFill>
                <a:latin typeface="Calibri"/>
              </a:rPr>
              <a:t>Pekanbaru
Kep. Meranti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93192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5A6672"/>
                </a:solidFill>
                <a:latin typeface="Calibri"/>
              </a:rPr>
              <a:t>Bukan konflik
tata kelola
Agrinas–KSO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Tiga Titik Merah Resmi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Koridor utara — dampak tertinggi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703320" cy="822960"/>
          </a:xfrm>
          <a:prstGeom prst="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ROHUL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Berkat Satu – Majuma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KSO Nusantara Sawit Majuma (Bonai)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1 meninggal dunia + luka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LP/B/07/II/2026 — P21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Bentrok PAM swakarsa vs PAM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8872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88720"/>
            <a:ext cx="3703320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8016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ROHIL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55448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Gunung Mas Raya – 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860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KSO PT Ujung Tanjung Sejahtera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PAM Flores non-BUJP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Bentrok 20 Okt 2025 — 7 luka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Penolakan serah/plang KSO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703320" cy="822960"/>
          </a:xfrm>
          <a:prstGeom prst="rect">
            <a:avLst/>
          </a:prstGeom>
          <a:solidFill>
            <a:srgbClr val="C48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80160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BENGKALIS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55448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SIS – PAB (Mandau)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Bentrok berulang Des 2025–Mei 2026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Multi-LP; kerusakan kendaraan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Panen liar ~150 Ha; bakar pos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Klaster resume vs kartu tidak selaras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Hotspot &amp; Satker Kritis 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Di luar tiga titik merah resmi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332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2A44"/>
                </a:solidFill>
                <a:latin typeface="Calibri"/>
              </a:rPr>
              <a:t>INHU — Volume tertinggi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28 kebun; 0M / 2K / 26H (underestimate)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Plasma, MHA Talang Mamak, panen paksa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EX Palm 560 Ha (Apr 2026); Bernas Mulya Mandiri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70332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37160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2A44"/>
                </a:solidFill>
                <a:latin typeface="Calibri"/>
              </a:rPr>
              <a:t>KAMPAR — LP terstruktur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8288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Intelkam 4 kebun vs lokal 21 estate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Agrinas 29.174 Ha; LP Jun 2026 Pasir Sialang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Pisahkan LP Agrinas vs agraria umum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2A44"/>
                </a:solidFill>
                <a:latin typeface="Calibri"/>
              </a:rPr>
              <a:t>KUANSING — TBS berulang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~35–37 LP relevan Agrinas-estate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Cerenti, WJT, Pesikaian (relokasi TNTN)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Pisahkan pidana oportunistik vs struktural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49039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370332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77639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2A44"/>
                </a:solidFill>
                <a:latin typeface="Calibri"/>
              </a:rPr>
              <a:t>PELALAWAN — TNTN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3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9 KSO hijau; konflik KSO resume 0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TNTN ~81.793 Ha; 7 desa; 5.733 KK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Portofolio risiko terpisah dari KSO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749039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749039"/>
            <a:ext cx="370332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77639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2A44"/>
                </a:solidFill>
                <a:latin typeface="Calibri"/>
              </a:rPr>
              <a:t>DUMAI — Semua kuning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3483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DMMP–Riden Jaya (Feb 2026)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Perebutan pekerjaan SRPO &amp; Pelintung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Risiko double-count dengan Bengkalis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49039"/>
            <a:ext cx="3703320" cy="24231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749039"/>
            <a:ext cx="3703320" cy="73152"/>
          </a:xfrm>
          <a:prstGeom prst="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77639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F2A44"/>
                </a:solidFill>
                <a:latin typeface="Calibri"/>
              </a:rPr>
              <a:t>MUTIARA NAGA — Watchlist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3483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Bengkalis: mediasi gagal 28 Jul 2026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Bentrok 29 Jul — kandidat naik klaster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E242A"/>
                </a:solidFill>
                <a:latin typeface="Calibri"/>
              </a:rPr>
              <a:t>•  Validasi klaster Intelkam mendesak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Rantai Tata Kelola Berisiko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Pola generik eskalasi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4592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45C2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1554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Sita
Satgas PKH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9456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64592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7830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45C2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240280"/>
            <a:ext cx="1554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Titip kelola
Agrinas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19456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64592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7830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45C2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240280"/>
            <a:ext cx="1554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Penunjukan
KSO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19456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164592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7830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45C26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240280"/>
            <a:ext cx="1554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Non-tempatan
+ PAM non-BUJP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19" y="219456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164592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7830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C45C26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240280"/>
            <a:ext cx="1554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Batas/plasma
belum selesai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9" y="2194560"/>
            <a:ext cx="365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164592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17830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240280"/>
            <a:ext cx="1554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LP / bentrok
/ MD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11247120" cy="21031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Titik gagal paling berulang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17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Penunjukan KSO tanpa legitimasi sosial lokal.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Pengamanan non-formal (PAM swakarsa non-BUJP) — termasuk isu SARA/premanisme.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Implikasi Harda: prioritas pada rantai penunjukan &amp; pengamanan KSO, bukan semata statistik pencurian TBS.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Tipologi: Struktural vs Oportunistik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Pemisahan analitik wajib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577840" cy="640080"/>
          </a:xfrm>
          <a:prstGeom prst="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212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STRUKTURAL TATA KELOLA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Penolakan KSO / plang / serah terima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PAM vs PAM; PAM non-BUJP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Klaim plasma / MHA / desa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TNTN &amp; relokasi kawasan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Contoh: Rohul, Rohil, Bengkalis, Inhu, Pelalawan (TNTN), Kampar (Johan Sentosa)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→ Prioritas pemetaan Harda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577840" cy="640080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PIDANA OPORTUNISTIK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Pencurian TBS berulang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Tipiring / RJ di areal kebun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Tidak selalu terkait konflik KSO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Contoh: Kuansing, Pekanbaru (non-Agrinas), sebagian Inhu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→ Jangan menggelembungkan “konflik Agrinas” di dashboard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42A"/>
                </a:solidFill>
                <a:latin typeface="Calibri"/>
              </a:rPr>
              <a:t>•  → Filter tipologi sebelum agregasi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Temuan Komparatif &amp; Diskoneksi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Implikasi kualitas bukti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760720" cy="5029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F2A44"/>
                </a:solidFill>
                <a:latin typeface="Calibri"/>
              </a:rPr>
              <a:t>Temuan komparatif kunci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Korban jiwa/luka hampir seluruhnya di koridor utara terkait PAM/KSO.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Jumlah kebun ≠ intensitas kekerasan (Inhu terbanyak; Rohul paling mematikan).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Klaster hijau tidak menjamin aman (WJT, EX Palm, Mutiara Naga).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TNTN Pelalawan = portofolio risiko terpisah.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E242A"/>
                </a:solidFill>
                <a:latin typeface="Calibri"/>
              </a:rPr>
              <a:t>•  Double-count geografis harus dibersihkan sebelum skor risiko.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F2A44"/>
                </a:solidFill>
                <a:latin typeface="Calibri"/>
              </a:rPr>
              <a:t>Diskoneksi lapisan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5C26"/>
                </a:solidFill>
                <a:latin typeface="Calibri"/>
              </a:rPr>
              <a:t>Intelkam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39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42A"/>
                </a:solidFill>
                <a:latin typeface="Calibri"/>
              </a:rPr>
              <a:t>+ Cakupan 130 + klaster
− Underestimate hijau bergesekan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5C26"/>
                </a:solidFill>
                <a:latin typeface="Calibri"/>
              </a:rPr>
              <a:t>Reskrim/LP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42A"/>
                </a:solidFill>
                <a:latin typeface="Calibri"/>
              </a:rPr>
              <a:t>+ Nomor LP &amp; proses
− Tidak seragam antar satker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8620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5C26"/>
                </a:solidFill>
                <a:latin typeface="Calibri"/>
              </a:rPr>
              <a:t>Harda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6052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42A"/>
                </a:solidFill>
                <a:latin typeface="Calibri"/>
              </a:rPr>
              <a:t>+ Tipologi yuridis–sosial
− Belum master LP–kebun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9204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5C26"/>
                </a:solidFill>
                <a:latin typeface="Calibri"/>
              </a:rPr>
              <a:t>Disbun/Pemda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166360"/>
            <a:ext cx="4937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1E242A"/>
                </a:solidFill>
                <a:latin typeface="Calibri"/>
              </a:rPr>
              <a:t>+ Konteks izin/batas
− Luas sering tidak sinkron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 Agenda Analisis Lanjutan (R1–R8)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Bukan perintah operasi — agenda riset/analitik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F2A44"/>
                </a:solidFill>
                <a:latin typeface="Calibri"/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42A"/>
                </a:solidFill>
                <a:latin typeface="Calibri"/>
              </a:rPr>
              <a:t>Matriks risiko satker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TINGGI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23444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F2A44"/>
                </a:solidFill>
                <a:latin typeface="Calibri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5740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42A"/>
                </a:solidFill>
                <a:latin typeface="Calibri"/>
              </a:rPr>
              <a:t>Jaringan aktor KSO/PAM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7889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3464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TINGGI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3444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F2A44"/>
                </a:solidFill>
                <a:latin typeface="Calibri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42A"/>
                </a:solidFill>
                <a:latin typeface="Calibri"/>
              </a:rPr>
              <a:t>Validasi klaster Intelkam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889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TINGGI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23444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50876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F2A44"/>
                </a:solidFill>
                <a:latin typeface="Calibri"/>
              </a:rPr>
              <a:t>R4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05740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42A"/>
                </a:solidFill>
                <a:latin typeface="Calibri"/>
              </a:rPr>
              <a:t>Timeline eskalasi PKH→KSO→LP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278892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83464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TINGGI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7033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9776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F2A44"/>
                </a:solidFill>
                <a:latin typeface="Calibri"/>
              </a:rPr>
              <a:t>R5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42A"/>
                </a:solidFill>
                <a:latin typeface="Calibri"/>
              </a:rPr>
              <a:t>Tipologi hukum Harda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5780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C48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03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SEDANG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37033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9776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F2A44"/>
                </a:solidFill>
                <a:latin typeface="Calibri"/>
              </a:rPr>
              <a:t>R6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262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42A"/>
                </a:solidFill>
                <a:latin typeface="Calibri"/>
              </a:rPr>
              <a:t>Spasial kecamatan/desa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525780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C48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5303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SEDANG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033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9776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F2A44"/>
                </a:solidFill>
                <a:latin typeface="Calibri"/>
              </a:rPr>
              <a:t>R7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262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42A"/>
                </a:solidFill>
                <a:latin typeface="Calibri"/>
              </a:rPr>
              <a:t>Gap-fill satker tipis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25780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C48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303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SEDANG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37033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9776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F2A44"/>
                </a:solidFill>
                <a:latin typeface="Calibri"/>
              </a:rPr>
              <a:t>R8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5262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42A"/>
                </a:solidFill>
                <a:latin typeface="Calibri"/>
              </a:rPr>
              <a:t>Dashboard monitoring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5257800"/>
            <a:ext cx="1463040" cy="36576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5303520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RENDAH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 Lima Prioritas Segera — Pimpinan Unit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Urutan kerja analitik yang disarankan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8016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R1 — Skor risiko satker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18488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Ranking bulanan berbasis kebun, klaster, LP, korban, PAM non-BUJP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28600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R3 — Validasi klaster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624328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Utamanya Bengkalis &amp; kebun hijau bergesekan (Mutiara Naga, WJT, EX Palm, Johan Sentosa)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546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9184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R2 — Jaringan KSO/PAM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30168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Seed: Bernas Mulya, Runggu, PAB, Majuma, Digjaya/UTS, Riden Jaya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343400"/>
            <a:ext cx="548640" cy="548640"/>
          </a:xfrm>
          <a:prstGeom prst="ellipse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9768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R4 — Timeline eskalasi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636008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Pilot: Majuma (Rohul), PAB–SIS (Bengkalis), UTS (Rohil), DMMP (Dumai)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663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5349240"/>
            <a:ext cx="548640" cy="548640"/>
          </a:xfrm>
          <a:prstGeom prst="ellipse">
            <a:avLst/>
          </a:prstGeom>
          <a:solidFill>
            <a:srgbClr val="2C5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4068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303520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F2A44"/>
                </a:solidFill>
                <a:latin typeface="Calibri"/>
              </a:rPr>
              <a:t>R7 — Gap-fill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641848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672"/>
                </a:solidFill>
                <a:latin typeface="Calibri"/>
              </a:rPr>
              <a:t>Rohil LP + Pelalawan daftar KSO + Meranti template satker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Unit II Harda · Ditreskrimum Polda Riau  |  Internal — Analisis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5C26"/>
                </a:solidFill>
                <a:latin typeface="Calibri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Konflik Agrinas–KSO di Riau adalah persoalan
tata kelola dan pengamanan — bukan semata pencurian TBS.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8D2DA"/>
                </a:solidFill>
                <a:latin typeface="Calibri"/>
              </a:rPr>
              <a:t>•  Fokus analitik: rantai penunjukan KSO + PAM non-BUJP + validasi klaster.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8D2DA"/>
                </a:solidFill>
                <a:latin typeface="Calibri"/>
              </a:rPr>
              <a:t>•  Produk pendukung: matriks_agrinas_kso_12_polres.xlsx &amp; laporan Word lengkap.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8D2DA"/>
                </a:solidFill>
                <a:latin typeface="Calibri"/>
              </a:rPr>
              <a:t>•  Sifat: deskripsi–sintesis dokumen; bukan verifikasi lapangan / perintah operasi.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8A3D"/>
                </a:solidFill>
                <a:latin typeface="Calibri"/>
              </a:rPr>
              <a:t>Unit II Harda  ·  Ditreskrimum Polda Riau  ·  Agustus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